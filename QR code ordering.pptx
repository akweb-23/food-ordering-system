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79307-F595-438D-9413-AFA20429CD41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FFFDAA-AB7D-4719-84D0-5222E7EE50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54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FFDAA-AB7D-4719-84D0-5222E7EE50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812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FFFDAA-AB7D-4719-84D0-5222E7EE50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40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40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3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32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936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9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96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78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96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55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7262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0044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663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77462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246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2460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38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FF1BA-A230-4F48-A2A7-6073074835B8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350E2DF-439F-4445-A05C-F1A6394CBA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620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3FE0A2B-7733-16D2-D12A-F5160B106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 hidden="1">
            <a:extLst>
              <a:ext uri="{FF2B5EF4-FFF2-40B4-BE49-F238E27FC236}">
                <a16:creationId xmlns:a16="http://schemas.microsoft.com/office/drawing/2014/main" id="{F36DEF49-6B41-2C4C-D468-67072E809A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8901EE0-0883-3938-621A-50E6B06728EE}"/>
              </a:ext>
            </a:extLst>
          </p:cNvPr>
          <p:cNvSpPr txBox="1">
            <a:spLocks/>
          </p:cNvSpPr>
          <p:nvPr/>
        </p:nvSpPr>
        <p:spPr>
          <a:xfrm>
            <a:off x="1849379" y="562843"/>
            <a:ext cx="8335926" cy="91594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ln w="0"/>
                <a:latin typeface="Raleway" panose="020B0604020202020204" charset="0"/>
                <a:cs typeface="Times New Roman" panose="02020603050405020304" pitchFamily="18" charset="0"/>
              </a:rPr>
              <a:t>TATYASAHEB KORE INSTITUTE OF ENGINEERING AND TECHNOLOGY,  WARANANAGAR</a:t>
            </a:r>
            <a:endParaRPr lang="en-US" sz="2800" b="1" dirty="0">
              <a:latin typeface="Raleway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4A020C-29A1-310D-4D93-C0E092E02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753" y="1561296"/>
            <a:ext cx="1979177" cy="166446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17A01B-8A15-E891-31C5-58C4F95E0EEC}"/>
              </a:ext>
            </a:extLst>
          </p:cNvPr>
          <p:cNvSpPr/>
          <p:nvPr/>
        </p:nvSpPr>
        <p:spPr>
          <a:xfrm>
            <a:off x="5384797" y="3308273"/>
            <a:ext cx="12650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PROJECT BY</a:t>
            </a:r>
            <a:endParaRPr lang="en-IN" sz="2000" b="1" dirty="0">
              <a:highlight>
                <a:srgbClr val="808080"/>
              </a:highlight>
              <a:latin typeface="Raleway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0349C2F8-D376-C2A8-4F11-72DEC3501E58}"/>
              </a:ext>
            </a:extLst>
          </p:cNvPr>
          <p:cNvSpPr/>
          <p:nvPr/>
        </p:nvSpPr>
        <p:spPr>
          <a:xfrm>
            <a:off x="3055677" y="4330088"/>
            <a:ext cx="95515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Name</a:t>
            </a:r>
            <a:r>
              <a:rPr lang="en-IN" dirty="0">
                <a:latin typeface="Raleway" panose="020B0604020202020204" charset="0"/>
                <a:cs typeface="Times New Roman" panose="02020603050405020304" pitchFamily="18" charset="0"/>
              </a:rPr>
              <a:t>                                                       			 </a:t>
            </a:r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Roll No.     </a:t>
            </a:r>
          </a:p>
          <a:p>
            <a:pPr algn="just"/>
            <a:r>
              <a:rPr lang="en-IN" b="1" dirty="0" err="1">
                <a:latin typeface="Raleway" panose="020B0604020202020204" charset="0"/>
                <a:cs typeface="Times New Roman" panose="02020603050405020304" pitchFamily="18" charset="0"/>
              </a:rPr>
              <a:t>Ms.Asmita</a:t>
            </a:r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 Manik Patil					    151</a:t>
            </a:r>
          </a:p>
          <a:p>
            <a:pPr algn="just"/>
            <a:r>
              <a:rPr lang="en-IN" b="1" dirty="0" err="1">
                <a:latin typeface="Raleway" panose="020B0604020202020204" charset="0"/>
                <a:cs typeface="Times New Roman" panose="02020603050405020304" pitchFamily="18" charset="0"/>
              </a:rPr>
              <a:t>Ms.Tejasvini</a:t>
            </a:r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 Babasaheb </a:t>
            </a:r>
            <a:r>
              <a:rPr lang="en-IN" b="1" dirty="0" err="1">
                <a:latin typeface="Raleway" panose="020B0604020202020204" charset="0"/>
                <a:cs typeface="Times New Roman" panose="02020603050405020304" pitchFamily="18" charset="0"/>
              </a:rPr>
              <a:t>Nalawade</a:t>
            </a:r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			    139</a:t>
            </a:r>
          </a:p>
          <a:p>
            <a:pPr algn="just"/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Ms. </a:t>
            </a:r>
            <a:r>
              <a:rPr lang="en-IN" b="1" dirty="0" err="1">
                <a:latin typeface="Raleway" panose="020B0604020202020204" charset="0"/>
                <a:cs typeface="Times New Roman" panose="02020603050405020304" pitchFamily="18" charset="0"/>
              </a:rPr>
              <a:t>Samruddhi</a:t>
            </a:r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 Dattatray </a:t>
            </a:r>
            <a:r>
              <a:rPr lang="en-IN" b="1" dirty="0" err="1">
                <a:latin typeface="Raleway" panose="020B0604020202020204" charset="0"/>
                <a:cs typeface="Times New Roman" panose="02020603050405020304" pitchFamily="18" charset="0"/>
              </a:rPr>
              <a:t>Narute</a:t>
            </a:r>
            <a:r>
              <a:rPr lang="en-IN" b="1" dirty="0">
                <a:latin typeface="Raleway" panose="020B0604020202020204" charset="0"/>
                <a:cs typeface="Times New Roman" panose="02020603050405020304" pitchFamily="18" charset="0"/>
              </a:rPr>
              <a:t>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C1D97-BFD5-F6E2-AE2C-B78CA937B820}"/>
              </a:ext>
            </a:extLst>
          </p:cNvPr>
          <p:cNvSpPr txBox="1"/>
          <p:nvPr/>
        </p:nvSpPr>
        <p:spPr>
          <a:xfrm>
            <a:off x="3942564" y="6113100"/>
            <a:ext cx="4837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Raleway" panose="020B0604020202020204" charset="0"/>
                <a:cs typeface="Times New Roman" panose="02020603050405020304" pitchFamily="18" charset="0"/>
              </a:rPr>
              <a:t>Guidance by:</a:t>
            </a:r>
            <a:r>
              <a:rPr lang="en-IN" sz="2000" dirty="0">
                <a:latin typeface="Raleway" panose="020B0604020202020204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Raleway" panose="020B0604020202020204" charset="0"/>
                <a:cs typeface="Times New Roman" panose="02020603050405020304" pitchFamily="18" charset="0"/>
              </a:rPr>
              <a:t>Prof-V.C.Patil</a:t>
            </a:r>
            <a:endParaRPr lang="en-IN" sz="2400" dirty="0">
              <a:latin typeface="Raleway" panose="020B060402020202020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B5AA92B-77D8-8F66-5570-5FFB2FAB76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7117606"/>
              </p:ext>
            </p:extLst>
          </p:nvPr>
        </p:nvGraphicFramePr>
        <p:xfrm>
          <a:off x="2910348" y="3698559"/>
          <a:ext cx="6115664" cy="21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3452">
                  <a:extLst>
                    <a:ext uri="{9D8B030D-6E8A-4147-A177-3AD203B41FA5}">
                      <a16:colId xmlns:a16="http://schemas.microsoft.com/office/drawing/2014/main" val="2343645846"/>
                    </a:ext>
                  </a:extLst>
                </a:gridCol>
                <a:gridCol w="1622212">
                  <a:extLst>
                    <a:ext uri="{9D8B030D-6E8A-4147-A177-3AD203B41FA5}">
                      <a16:colId xmlns:a16="http://schemas.microsoft.com/office/drawing/2014/main" val="251048677"/>
                    </a:ext>
                  </a:extLst>
                </a:gridCol>
              </a:tblGrid>
              <a:tr h="5354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Roll no.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824955"/>
                  </a:ext>
                </a:extLst>
              </a:tr>
              <a:tr h="5354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Asmita Manik Patil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151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1082919"/>
                  </a:ext>
                </a:extLst>
              </a:tr>
              <a:tr h="535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Tejasvini Babasabeb Nalawade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139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788788"/>
                  </a:ext>
                </a:extLst>
              </a:tr>
              <a:tr h="5354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Samruddhi Dattatray Narute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141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65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03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EFB6-7883-E1BB-67BE-03FEFEEBC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517" y="2212258"/>
            <a:ext cx="10491018" cy="3195484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pPr algn="ctr"/>
            <a:r>
              <a:rPr lang="en-US" sz="6000" b="1" dirty="0">
                <a:latin typeface="Raleway" pitchFamily="2" charset="0"/>
              </a:rPr>
              <a:t>Advanced QR-Code Ordering System</a:t>
            </a:r>
            <a:endParaRPr lang="en-IN" sz="6000" b="1" dirty="0">
              <a:latin typeface="Raleway" pitchFamily="2" charset="0"/>
            </a:endParaRPr>
          </a:p>
        </p:txBody>
      </p:sp>
      <p:sp>
        <p:nvSpPr>
          <p:cNvPr id="3" name="Content Placeholder 2" hidden="1">
            <a:extLst>
              <a:ext uri="{FF2B5EF4-FFF2-40B4-BE49-F238E27FC236}">
                <a16:creationId xmlns:a16="http://schemas.microsoft.com/office/drawing/2014/main" id="{4D25E74C-D4F0-4BA6-7BF0-800559715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86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267D7818-451A-CA44-3C59-441B2CCBE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 hidden="1">
            <a:extLst>
              <a:ext uri="{FF2B5EF4-FFF2-40B4-BE49-F238E27FC236}">
                <a16:creationId xmlns:a16="http://schemas.microsoft.com/office/drawing/2014/main" id="{507BF70C-5452-E870-29DD-13E349D8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Google Shape;227;p28">
            <a:extLst>
              <a:ext uri="{FF2B5EF4-FFF2-40B4-BE49-F238E27FC236}">
                <a16:creationId xmlns:a16="http://schemas.microsoft.com/office/drawing/2014/main" id="{E6243042-0839-A680-AD7A-AC68584AD342}"/>
              </a:ext>
            </a:extLst>
          </p:cNvPr>
          <p:cNvSpPr txBox="1">
            <a:spLocks/>
          </p:cNvSpPr>
          <p:nvPr/>
        </p:nvSpPr>
        <p:spPr>
          <a:xfrm>
            <a:off x="6568386" y="1412112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02</a:t>
            </a:r>
          </a:p>
        </p:txBody>
      </p:sp>
      <p:sp>
        <p:nvSpPr>
          <p:cNvPr id="5" name="Google Shape;228;p28">
            <a:extLst>
              <a:ext uri="{FF2B5EF4-FFF2-40B4-BE49-F238E27FC236}">
                <a16:creationId xmlns:a16="http://schemas.microsoft.com/office/drawing/2014/main" id="{B0D46D9A-7251-5D74-81F1-A7F72623D919}"/>
              </a:ext>
            </a:extLst>
          </p:cNvPr>
          <p:cNvSpPr txBox="1">
            <a:spLocks/>
          </p:cNvSpPr>
          <p:nvPr/>
        </p:nvSpPr>
        <p:spPr>
          <a:xfrm>
            <a:off x="6568386" y="2483192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04</a:t>
            </a:r>
          </a:p>
        </p:txBody>
      </p:sp>
      <p:sp>
        <p:nvSpPr>
          <p:cNvPr id="6" name="Google Shape;229;p28">
            <a:extLst>
              <a:ext uri="{FF2B5EF4-FFF2-40B4-BE49-F238E27FC236}">
                <a16:creationId xmlns:a16="http://schemas.microsoft.com/office/drawing/2014/main" id="{7847B8FA-F6F3-402C-5CA3-85F82E208316}"/>
              </a:ext>
            </a:extLst>
          </p:cNvPr>
          <p:cNvSpPr txBox="1">
            <a:spLocks/>
          </p:cNvSpPr>
          <p:nvPr/>
        </p:nvSpPr>
        <p:spPr>
          <a:xfrm>
            <a:off x="1044041" y="2619680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03</a:t>
            </a:r>
          </a:p>
        </p:txBody>
      </p:sp>
      <p:sp>
        <p:nvSpPr>
          <p:cNvPr id="7" name="Google Shape;230;p28">
            <a:extLst>
              <a:ext uri="{FF2B5EF4-FFF2-40B4-BE49-F238E27FC236}">
                <a16:creationId xmlns:a16="http://schemas.microsoft.com/office/drawing/2014/main" id="{56F0775E-AF0A-5E7F-211E-C3F8FB2D42F4}"/>
              </a:ext>
            </a:extLst>
          </p:cNvPr>
          <p:cNvSpPr txBox="1">
            <a:spLocks/>
          </p:cNvSpPr>
          <p:nvPr/>
        </p:nvSpPr>
        <p:spPr>
          <a:xfrm>
            <a:off x="991155" y="1466182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01</a:t>
            </a:r>
          </a:p>
        </p:txBody>
      </p:sp>
      <p:sp>
        <p:nvSpPr>
          <p:cNvPr id="8" name="Google Shape;231;p28">
            <a:extLst>
              <a:ext uri="{FF2B5EF4-FFF2-40B4-BE49-F238E27FC236}">
                <a16:creationId xmlns:a16="http://schemas.microsoft.com/office/drawing/2014/main" id="{D0E57F03-8EEB-C32F-C9D0-A707563B5EB8}"/>
              </a:ext>
            </a:extLst>
          </p:cNvPr>
          <p:cNvSpPr txBox="1">
            <a:spLocks/>
          </p:cNvSpPr>
          <p:nvPr/>
        </p:nvSpPr>
        <p:spPr>
          <a:xfrm>
            <a:off x="3421625" y="202086"/>
            <a:ext cx="5899355" cy="68453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dirty="0"/>
              <a:t>TABLE OF CONTENTS</a:t>
            </a:r>
          </a:p>
        </p:txBody>
      </p:sp>
      <p:sp>
        <p:nvSpPr>
          <p:cNvPr id="9" name="Google Shape;232;p28">
            <a:extLst>
              <a:ext uri="{FF2B5EF4-FFF2-40B4-BE49-F238E27FC236}">
                <a16:creationId xmlns:a16="http://schemas.microsoft.com/office/drawing/2014/main" id="{5B0275FC-74EE-ECD0-A274-FA708B547790}"/>
              </a:ext>
            </a:extLst>
          </p:cNvPr>
          <p:cNvSpPr txBox="1">
            <a:spLocks/>
          </p:cNvSpPr>
          <p:nvPr/>
        </p:nvSpPr>
        <p:spPr>
          <a:xfrm>
            <a:off x="2095786" y="1502644"/>
            <a:ext cx="3157094" cy="576767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SzPts val="1100"/>
              <a:buNone/>
            </a:pPr>
            <a:r>
              <a:rPr lang="en-US" sz="2800" dirty="0"/>
              <a:t>Introduction</a:t>
            </a:r>
          </a:p>
        </p:txBody>
      </p:sp>
      <p:sp>
        <p:nvSpPr>
          <p:cNvPr id="10" name="Google Shape;233;p28">
            <a:extLst>
              <a:ext uri="{FF2B5EF4-FFF2-40B4-BE49-F238E27FC236}">
                <a16:creationId xmlns:a16="http://schemas.microsoft.com/office/drawing/2014/main" id="{9C4215FA-1DDE-CCF9-77E4-21D6FF35E7E1}"/>
              </a:ext>
            </a:extLst>
          </p:cNvPr>
          <p:cNvSpPr txBox="1">
            <a:spLocks/>
          </p:cNvSpPr>
          <p:nvPr/>
        </p:nvSpPr>
        <p:spPr>
          <a:xfrm>
            <a:off x="7728154" y="1437734"/>
            <a:ext cx="4001726" cy="59854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+mn-lt"/>
              </a:rPr>
              <a:t>Problem Statement</a:t>
            </a:r>
          </a:p>
        </p:txBody>
      </p:sp>
      <p:sp>
        <p:nvSpPr>
          <p:cNvPr id="11" name="Google Shape;234;p28">
            <a:extLst>
              <a:ext uri="{FF2B5EF4-FFF2-40B4-BE49-F238E27FC236}">
                <a16:creationId xmlns:a16="http://schemas.microsoft.com/office/drawing/2014/main" id="{91358BD3-76C6-61B6-DDCF-C1870464F5EF}"/>
              </a:ext>
            </a:extLst>
          </p:cNvPr>
          <p:cNvSpPr txBox="1">
            <a:spLocks/>
          </p:cNvSpPr>
          <p:nvPr/>
        </p:nvSpPr>
        <p:spPr>
          <a:xfrm>
            <a:off x="2122828" y="2663990"/>
            <a:ext cx="3157093" cy="66128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vert="horz" wrap="square" lIns="91425" tIns="91425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ts val="1100"/>
              <a:buNone/>
            </a:pPr>
            <a:r>
              <a:rPr lang="en-US" dirty="0"/>
              <a:t>Objective</a:t>
            </a:r>
          </a:p>
        </p:txBody>
      </p:sp>
      <p:sp>
        <p:nvSpPr>
          <p:cNvPr id="12" name="Google Shape;235;p28">
            <a:extLst>
              <a:ext uri="{FF2B5EF4-FFF2-40B4-BE49-F238E27FC236}">
                <a16:creationId xmlns:a16="http://schemas.microsoft.com/office/drawing/2014/main" id="{5511D30E-A0FE-3E8F-5D6E-36CEF4F5652C}"/>
              </a:ext>
            </a:extLst>
          </p:cNvPr>
          <p:cNvSpPr txBox="1">
            <a:spLocks/>
          </p:cNvSpPr>
          <p:nvPr/>
        </p:nvSpPr>
        <p:spPr>
          <a:xfrm>
            <a:off x="7728154" y="2444249"/>
            <a:ext cx="4001727" cy="627994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ts val="1100"/>
              <a:buNone/>
            </a:pPr>
            <a:r>
              <a:rPr lang="en-US" dirty="0"/>
              <a:t>Motivation</a:t>
            </a:r>
          </a:p>
        </p:txBody>
      </p:sp>
      <p:sp>
        <p:nvSpPr>
          <p:cNvPr id="13" name="Google Shape;236;p28">
            <a:extLst>
              <a:ext uri="{FF2B5EF4-FFF2-40B4-BE49-F238E27FC236}">
                <a16:creationId xmlns:a16="http://schemas.microsoft.com/office/drawing/2014/main" id="{D7A81C91-82AF-DDA3-DCA8-9F06DA5B8AAB}"/>
              </a:ext>
            </a:extLst>
          </p:cNvPr>
          <p:cNvSpPr txBox="1">
            <a:spLocks/>
          </p:cNvSpPr>
          <p:nvPr/>
        </p:nvSpPr>
        <p:spPr>
          <a:xfrm>
            <a:off x="2095786" y="3674365"/>
            <a:ext cx="3103010" cy="4767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+mn-lt"/>
              </a:rPr>
              <a:t>System design</a:t>
            </a:r>
          </a:p>
        </p:txBody>
      </p:sp>
      <p:sp>
        <p:nvSpPr>
          <p:cNvPr id="14" name="Google Shape;237;p28">
            <a:extLst>
              <a:ext uri="{FF2B5EF4-FFF2-40B4-BE49-F238E27FC236}">
                <a16:creationId xmlns:a16="http://schemas.microsoft.com/office/drawing/2014/main" id="{5A86EC4C-5044-27F0-039E-AD8D1F8F312D}"/>
              </a:ext>
            </a:extLst>
          </p:cNvPr>
          <p:cNvSpPr txBox="1">
            <a:spLocks/>
          </p:cNvSpPr>
          <p:nvPr/>
        </p:nvSpPr>
        <p:spPr>
          <a:xfrm>
            <a:off x="7728155" y="3420944"/>
            <a:ext cx="4001728" cy="584913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 algn="ctr">
              <a:buSzPts val="1100"/>
              <a:buNone/>
            </a:pPr>
            <a:r>
              <a:rPr lang="en-US" sz="2800" b="0" dirty="0">
                <a:latin typeface="+mn-lt"/>
              </a:rPr>
              <a:t>Modules</a:t>
            </a:r>
            <a:endParaRPr lang="en-US" sz="2800" dirty="0">
              <a:latin typeface="+mn-lt"/>
            </a:endParaRPr>
          </a:p>
        </p:txBody>
      </p:sp>
      <p:sp>
        <p:nvSpPr>
          <p:cNvPr id="15" name="Google Shape;238;p28">
            <a:extLst>
              <a:ext uri="{FF2B5EF4-FFF2-40B4-BE49-F238E27FC236}">
                <a16:creationId xmlns:a16="http://schemas.microsoft.com/office/drawing/2014/main" id="{C7E84180-8738-CD4C-41CE-56DBD03CD09A}"/>
              </a:ext>
            </a:extLst>
          </p:cNvPr>
          <p:cNvSpPr txBox="1">
            <a:spLocks/>
          </p:cNvSpPr>
          <p:nvPr/>
        </p:nvSpPr>
        <p:spPr>
          <a:xfrm>
            <a:off x="7728154" y="5741481"/>
            <a:ext cx="4001726" cy="643788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ts val="1100"/>
              <a:buNone/>
            </a:pPr>
            <a:r>
              <a:rPr lang="en-US" dirty="0"/>
              <a:t>Conclusion</a:t>
            </a:r>
          </a:p>
        </p:txBody>
      </p:sp>
      <p:sp>
        <p:nvSpPr>
          <p:cNvPr id="16" name="Google Shape;239;p28">
            <a:extLst>
              <a:ext uri="{FF2B5EF4-FFF2-40B4-BE49-F238E27FC236}">
                <a16:creationId xmlns:a16="http://schemas.microsoft.com/office/drawing/2014/main" id="{46325162-4C1A-7ED4-834C-E1E1DA904A0F}"/>
              </a:ext>
            </a:extLst>
          </p:cNvPr>
          <p:cNvSpPr txBox="1">
            <a:spLocks/>
          </p:cNvSpPr>
          <p:nvPr/>
        </p:nvSpPr>
        <p:spPr>
          <a:xfrm>
            <a:off x="7728154" y="4253767"/>
            <a:ext cx="4001729" cy="116649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SzPts val="1100"/>
              <a:buNone/>
            </a:pPr>
            <a:r>
              <a:rPr lang="en-US" sz="2800" dirty="0">
                <a:latin typeface="+mn-lt"/>
              </a:rPr>
              <a:t>Software &amp; Hardware Requirement</a:t>
            </a:r>
          </a:p>
        </p:txBody>
      </p:sp>
      <p:sp>
        <p:nvSpPr>
          <p:cNvPr id="17" name="Google Shape;228;p28" hidden="1">
            <a:extLst>
              <a:ext uri="{FF2B5EF4-FFF2-40B4-BE49-F238E27FC236}">
                <a16:creationId xmlns:a16="http://schemas.microsoft.com/office/drawing/2014/main" id="{45A8DEF3-79A6-0DB7-816B-531090D57F43}"/>
              </a:ext>
            </a:extLst>
          </p:cNvPr>
          <p:cNvSpPr txBox="1">
            <a:spLocks/>
          </p:cNvSpPr>
          <p:nvPr/>
        </p:nvSpPr>
        <p:spPr>
          <a:xfrm>
            <a:off x="829213" y="4055177"/>
            <a:ext cx="838500" cy="705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32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8" name="Google Shape;236;p28">
            <a:extLst>
              <a:ext uri="{FF2B5EF4-FFF2-40B4-BE49-F238E27FC236}">
                <a16:creationId xmlns:a16="http://schemas.microsoft.com/office/drawing/2014/main" id="{CA9EADD7-492E-2F43-F5EE-7F96DBF7E046}"/>
              </a:ext>
            </a:extLst>
          </p:cNvPr>
          <p:cNvSpPr txBox="1">
            <a:spLocks/>
          </p:cNvSpPr>
          <p:nvPr/>
        </p:nvSpPr>
        <p:spPr>
          <a:xfrm>
            <a:off x="2076565" y="4788863"/>
            <a:ext cx="3157092" cy="4767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US" sz="2800" b="0" dirty="0">
                <a:latin typeface="+mn-lt"/>
              </a:rPr>
              <a:t>Flowchart</a:t>
            </a:r>
          </a:p>
        </p:txBody>
      </p:sp>
      <p:sp>
        <p:nvSpPr>
          <p:cNvPr id="19" name="Google Shape;235;p28">
            <a:extLst>
              <a:ext uri="{FF2B5EF4-FFF2-40B4-BE49-F238E27FC236}">
                <a16:creationId xmlns:a16="http://schemas.microsoft.com/office/drawing/2014/main" id="{17A55C50-01B5-5B41-727C-228CB0F7DC98}"/>
              </a:ext>
            </a:extLst>
          </p:cNvPr>
          <p:cNvSpPr txBox="1">
            <a:spLocks/>
          </p:cNvSpPr>
          <p:nvPr/>
        </p:nvSpPr>
        <p:spPr>
          <a:xfrm>
            <a:off x="2095786" y="5852999"/>
            <a:ext cx="3157091" cy="591151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 algn="ctr">
              <a:buSzPts val="1100"/>
            </a:pPr>
            <a:r>
              <a:rPr lang="en-US" sz="2800" dirty="0">
                <a:latin typeface="+mn-lt"/>
              </a:rPr>
              <a:t>References</a:t>
            </a:r>
          </a:p>
        </p:txBody>
      </p:sp>
      <p:sp>
        <p:nvSpPr>
          <p:cNvPr id="20" name="Google Shape;228;p28" hidden="1">
            <a:extLst>
              <a:ext uri="{FF2B5EF4-FFF2-40B4-BE49-F238E27FC236}">
                <a16:creationId xmlns:a16="http://schemas.microsoft.com/office/drawing/2014/main" id="{FBE35237-FFF0-E4CA-AA4C-C1047F5369D8}"/>
              </a:ext>
            </a:extLst>
          </p:cNvPr>
          <p:cNvSpPr txBox="1">
            <a:spLocks/>
          </p:cNvSpPr>
          <p:nvPr/>
        </p:nvSpPr>
        <p:spPr>
          <a:xfrm>
            <a:off x="7620002" y="3096965"/>
            <a:ext cx="838500" cy="7056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3200" b="1" i="0" u="none" strike="noStrike" cap="none">
                <a:solidFill>
                  <a:schemeClr val="accent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sz="4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22" name="Google Shape;229;p28">
            <a:extLst>
              <a:ext uri="{FF2B5EF4-FFF2-40B4-BE49-F238E27FC236}">
                <a16:creationId xmlns:a16="http://schemas.microsoft.com/office/drawing/2014/main" id="{61319093-6706-7FEB-5054-2D49803C2568}"/>
              </a:ext>
            </a:extLst>
          </p:cNvPr>
          <p:cNvSpPr txBox="1">
            <a:spLocks/>
          </p:cNvSpPr>
          <p:nvPr/>
        </p:nvSpPr>
        <p:spPr>
          <a:xfrm>
            <a:off x="1044041" y="3636060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05</a:t>
            </a:r>
          </a:p>
        </p:txBody>
      </p:sp>
      <p:sp>
        <p:nvSpPr>
          <p:cNvPr id="23" name="Google Shape;229;p28">
            <a:extLst>
              <a:ext uri="{FF2B5EF4-FFF2-40B4-BE49-F238E27FC236}">
                <a16:creationId xmlns:a16="http://schemas.microsoft.com/office/drawing/2014/main" id="{F7ED4A2E-246A-A0AB-4375-B67FE2C80500}"/>
              </a:ext>
            </a:extLst>
          </p:cNvPr>
          <p:cNvSpPr txBox="1">
            <a:spLocks/>
          </p:cNvSpPr>
          <p:nvPr/>
        </p:nvSpPr>
        <p:spPr>
          <a:xfrm>
            <a:off x="6596671" y="4509703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08</a:t>
            </a:r>
          </a:p>
        </p:txBody>
      </p:sp>
      <p:sp>
        <p:nvSpPr>
          <p:cNvPr id="24" name="Google Shape;229;p28">
            <a:extLst>
              <a:ext uri="{FF2B5EF4-FFF2-40B4-BE49-F238E27FC236}">
                <a16:creationId xmlns:a16="http://schemas.microsoft.com/office/drawing/2014/main" id="{878405A3-C828-4190-7845-5870E9213BC2}"/>
              </a:ext>
            </a:extLst>
          </p:cNvPr>
          <p:cNvSpPr txBox="1">
            <a:spLocks/>
          </p:cNvSpPr>
          <p:nvPr/>
        </p:nvSpPr>
        <p:spPr>
          <a:xfrm>
            <a:off x="6596671" y="5710575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10</a:t>
            </a:r>
          </a:p>
        </p:txBody>
      </p:sp>
      <p:sp>
        <p:nvSpPr>
          <p:cNvPr id="26" name="Google Shape;229;p28">
            <a:extLst>
              <a:ext uri="{FF2B5EF4-FFF2-40B4-BE49-F238E27FC236}">
                <a16:creationId xmlns:a16="http://schemas.microsoft.com/office/drawing/2014/main" id="{65F2A69E-731A-2D03-10F7-FF7BEE8C889F}"/>
              </a:ext>
            </a:extLst>
          </p:cNvPr>
          <p:cNvSpPr txBox="1">
            <a:spLocks/>
          </p:cNvSpPr>
          <p:nvPr/>
        </p:nvSpPr>
        <p:spPr>
          <a:xfrm>
            <a:off x="991155" y="5852069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09</a:t>
            </a:r>
          </a:p>
        </p:txBody>
      </p:sp>
      <p:sp>
        <p:nvSpPr>
          <p:cNvPr id="27" name="Google Shape;235;p28" hidden="1">
            <a:extLst>
              <a:ext uri="{FF2B5EF4-FFF2-40B4-BE49-F238E27FC236}">
                <a16:creationId xmlns:a16="http://schemas.microsoft.com/office/drawing/2014/main" id="{25D008F4-313D-4449-1D79-7E59664B9ED9}"/>
              </a:ext>
            </a:extLst>
          </p:cNvPr>
          <p:cNvSpPr txBox="1">
            <a:spLocks/>
          </p:cNvSpPr>
          <p:nvPr/>
        </p:nvSpPr>
        <p:spPr>
          <a:xfrm>
            <a:off x="1931099" y="5272427"/>
            <a:ext cx="2793300" cy="4767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None/>
              <a:defRPr sz="12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ts val="1100"/>
            </a:pPr>
            <a:endParaRPr lang="en-US" dirty="0"/>
          </a:p>
        </p:txBody>
      </p:sp>
      <p:sp>
        <p:nvSpPr>
          <p:cNvPr id="30" name="Google Shape;229;p28">
            <a:extLst>
              <a:ext uri="{FF2B5EF4-FFF2-40B4-BE49-F238E27FC236}">
                <a16:creationId xmlns:a16="http://schemas.microsoft.com/office/drawing/2014/main" id="{A8EE1B1D-78D5-CCE0-87C0-45898B966C95}"/>
              </a:ext>
            </a:extLst>
          </p:cNvPr>
          <p:cNvSpPr txBox="1">
            <a:spLocks/>
          </p:cNvSpPr>
          <p:nvPr/>
        </p:nvSpPr>
        <p:spPr>
          <a:xfrm>
            <a:off x="1006534" y="4744064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07</a:t>
            </a:r>
          </a:p>
        </p:txBody>
      </p:sp>
      <p:sp>
        <p:nvSpPr>
          <p:cNvPr id="31" name="Google Shape;229;p28">
            <a:extLst>
              <a:ext uri="{FF2B5EF4-FFF2-40B4-BE49-F238E27FC236}">
                <a16:creationId xmlns:a16="http://schemas.microsoft.com/office/drawing/2014/main" id="{09D03156-04EA-D3AF-D447-2DA9337BBFA6}"/>
              </a:ext>
            </a:extLst>
          </p:cNvPr>
          <p:cNvSpPr txBox="1">
            <a:spLocks/>
          </p:cNvSpPr>
          <p:nvPr/>
        </p:nvSpPr>
        <p:spPr>
          <a:xfrm>
            <a:off x="6568386" y="3478924"/>
            <a:ext cx="838500" cy="705600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58128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C992A-8382-6CBE-B7A3-D451B999B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01567"/>
          </a:xfrm>
        </p:spPr>
        <p:txBody>
          <a:bodyPr>
            <a:normAutofit/>
          </a:bodyPr>
          <a:lstStyle/>
          <a:p>
            <a:r>
              <a:rPr lang="en-US" sz="4400" dirty="0"/>
              <a:t>Introduction</a:t>
            </a:r>
            <a:endParaRPr lang="en-IN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E74966-14CF-A098-25CA-20EEE99BE9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1" y="2144975"/>
            <a:ext cx="833442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Overview of the project: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solidFill>
                  <a:schemeClr val="tx1"/>
                </a:solidFill>
              </a:rPr>
              <a:t>	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QR code-based digital ordering system for restaurants that improves customer experience by reducing wait times and eliminating physical menus.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features: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QR code scanning for menu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Contactless, efficient, and seamless ordering.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Order details sent directly to the restaurant manager.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83817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A4AFA-7325-2415-2F09-8F1742BB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5DAF-1EAB-9128-1473-A5E72234C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349916"/>
            <a:ext cx="8915400" cy="3295841"/>
          </a:xfrm>
        </p:spPr>
        <p:txBody>
          <a:bodyPr/>
          <a:lstStyle/>
          <a:p>
            <a:r>
              <a:rPr lang="en-US" sz="2000" dirty="0">
                <a:effectLst/>
                <a:ea typeface="Times New Roman" panose="02020603050405020304" pitchFamily="18" charset="0"/>
                <a:cs typeface="Mangal" panose="02040503050203030202" pitchFamily="18" charset="0"/>
              </a:rPr>
              <a:t>The project aims to modernize the traditional restaurant ordering process by replacing physical menus with a QR code-based digital system. This eliminates the need for manual order-taking, reduces wait times, and provides a seamless, contactless dining experience for customers.</a:t>
            </a:r>
            <a:endParaRPr lang="en-IN" sz="2000" dirty="0">
              <a:effectLst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701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20E6-DD1A-66CD-4FEB-B7DDAA197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26235-1EED-DF2E-CDFE-D665A2E27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>
                <a:effectLst/>
                <a:ea typeface="Times New Roman" panose="02020603050405020304" pitchFamily="18" charset="0"/>
              </a:rPr>
              <a:t>To develop a QR code-based ordering system</a:t>
            </a:r>
          </a:p>
          <a:p>
            <a:r>
              <a:rPr lang="en-IN" sz="2000" dirty="0">
                <a:effectLst/>
                <a:ea typeface="Times New Roman" panose="02020603050405020304" pitchFamily="18" charset="0"/>
              </a:rPr>
              <a:t>To provide an interactive menu</a:t>
            </a:r>
            <a:endParaRPr lang="en-IN" sz="2000" dirty="0">
              <a:ea typeface="Times New Roman" panose="02020603050405020304" pitchFamily="18" charset="0"/>
            </a:endParaRPr>
          </a:p>
          <a:p>
            <a:r>
              <a:rPr lang="en-IN" sz="2000" dirty="0">
                <a:effectLst/>
                <a:ea typeface="Times New Roman" panose="02020603050405020304" pitchFamily="18" charset="0"/>
              </a:rPr>
              <a:t>To enable order placement</a:t>
            </a:r>
            <a:endParaRPr lang="en-IN" sz="2000" dirty="0">
              <a:ea typeface="Times New Roman" panose="02020603050405020304" pitchFamily="18" charset="0"/>
            </a:endParaRPr>
          </a:p>
          <a:p>
            <a:r>
              <a:rPr lang="en-IN" sz="2000" dirty="0">
                <a:effectLst/>
                <a:ea typeface="Times New Roman" panose="02020603050405020304" pitchFamily="18" charset="0"/>
              </a:rPr>
              <a:t>To send orders to the manager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0136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38896-6710-E309-D34F-F5791C355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Motivation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6C568-8CDA-20FE-DB9B-DDC4D4A8B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Technological trends in the food industry:</a:t>
            </a:r>
          </a:p>
          <a:p>
            <a:pPr lvl="1"/>
            <a:r>
              <a:rPr lang="en-US" sz="2000" dirty="0"/>
              <a:t>Increased demand for digital transformation.</a:t>
            </a:r>
          </a:p>
          <a:p>
            <a:pPr lvl="1"/>
            <a:r>
              <a:rPr lang="en-US" sz="2000" dirty="0"/>
              <a:t>Need for contactless solutions in the post-COVID world.</a:t>
            </a:r>
          </a:p>
          <a:p>
            <a:pPr lvl="1"/>
            <a:r>
              <a:rPr lang="en-US" sz="2000" dirty="0"/>
              <a:t>Desire to reduce operational costs and improve customer satisfaction.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73378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C929C-8808-FA50-F570-CA548DF10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System Design(Architecture)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1D56C-D4D5-A2A5-12F4-BA4BBF791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Client-Server Model</a:t>
            </a:r>
            <a:r>
              <a:rPr lang="en-IN" dirty="0"/>
              <a:t>:</a:t>
            </a:r>
          </a:p>
          <a:p>
            <a:pPr lvl="1"/>
            <a:r>
              <a:rPr lang="en-US" b="1" dirty="0"/>
              <a:t>Frontend</a:t>
            </a:r>
            <a:r>
              <a:rPr lang="en-US" dirty="0"/>
              <a:t>: Customer interacts with the digital menu on their phone.</a:t>
            </a:r>
          </a:p>
          <a:p>
            <a:pPr lvl="1"/>
            <a:r>
              <a:rPr lang="en-US" b="1" dirty="0"/>
              <a:t>Backend</a:t>
            </a:r>
            <a:r>
              <a:rPr lang="en-US" dirty="0"/>
              <a:t>: Server processes orders and communicates with the restaurant manager’s desktop</a:t>
            </a:r>
          </a:p>
          <a:p>
            <a:pPr lvl="1"/>
            <a:r>
              <a:rPr lang="en-US" b="1" dirty="0"/>
              <a:t>Database</a:t>
            </a:r>
            <a:r>
              <a:rPr lang="en-US" dirty="0"/>
              <a:t>: Stores menu items, order details, and customer data.</a:t>
            </a:r>
          </a:p>
          <a:p>
            <a:pPr lvl="1"/>
            <a:r>
              <a:rPr lang="en-US" b="1" dirty="0"/>
              <a:t>QR Code</a:t>
            </a:r>
            <a:r>
              <a:rPr lang="en-US" dirty="0"/>
              <a:t>: Links customers directly to the menu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756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0BF9-5228-4B34-A67D-5F431DD56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Modules of the system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E64CA-6CCC-84CB-8C16-E60A58497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/>
              <a:t>User Interface</a:t>
            </a:r>
            <a:r>
              <a:rPr lang="en-IN" sz="2000" dirty="0"/>
              <a:t>:</a:t>
            </a:r>
          </a:p>
          <a:p>
            <a:pPr lvl="1"/>
            <a:r>
              <a:rPr lang="en-US" sz="2000" dirty="0"/>
              <a:t>Displays the menu, organized by categories</a:t>
            </a:r>
            <a:endParaRPr lang="en-IN" sz="2000" dirty="0"/>
          </a:p>
          <a:p>
            <a:r>
              <a:rPr lang="en-IN" sz="2000" b="1" dirty="0"/>
              <a:t>Cart Management:</a:t>
            </a:r>
          </a:p>
          <a:p>
            <a:pPr lvl="1"/>
            <a:r>
              <a:rPr lang="en-US" sz="2000" dirty="0"/>
              <a:t>Add/remove items, calculate total amount.</a:t>
            </a:r>
            <a:endParaRPr lang="en-IN" sz="2000" b="1" dirty="0"/>
          </a:p>
          <a:p>
            <a:r>
              <a:rPr lang="en-IN" sz="2000" b="1" dirty="0"/>
              <a:t>Order Confirmation:</a:t>
            </a:r>
          </a:p>
          <a:p>
            <a:pPr lvl="1"/>
            <a:r>
              <a:rPr lang="en-US" sz="2000" dirty="0"/>
              <a:t>Collect customer details, confirm order submission.</a:t>
            </a:r>
            <a:endParaRPr lang="en-IN" sz="2000" b="1" dirty="0"/>
          </a:p>
          <a:p>
            <a:r>
              <a:rPr lang="en-IN" sz="2000" b="1" dirty="0"/>
              <a:t>Order processing:</a:t>
            </a:r>
          </a:p>
          <a:p>
            <a:pPr lvl="1"/>
            <a:r>
              <a:rPr lang="en-IN" sz="2000" dirty="0"/>
              <a:t>Sends order details to the restaurant manager’s desktop in real time.</a:t>
            </a:r>
          </a:p>
        </p:txBody>
      </p:sp>
    </p:spTree>
    <p:extLst>
      <p:ext uri="{BB962C8B-B14F-4D97-AF65-F5344CB8AC3E}">
        <p14:creationId xmlns:p14="http://schemas.microsoft.com/office/powerpoint/2010/main" val="415953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7C71-16A3-95F2-4E00-A5DC0355D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Flowchart/Block Diagram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A7523-4F7F-C559-CF71-FBC7A2F63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Visual Representation:</a:t>
            </a:r>
          </a:p>
          <a:p>
            <a:pPr lvl="1"/>
            <a:r>
              <a:rPr lang="en-US" sz="2000" dirty="0"/>
              <a:t>A simple flowchart or block diagram showcasing: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E18993-6749-BFBA-5301-7417C9C8E473}"/>
              </a:ext>
            </a:extLst>
          </p:cNvPr>
          <p:cNvSpPr/>
          <p:nvPr/>
        </p:nvSpPr>
        <p:spPr>
          <a:xfrm>
            <a:off x="1189703" y="3330677"/>
            <a:ext cx="2182761" cy="1163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User scanning QR-Code</a:t>
            </a:r>
            <a:endParaRPr lang="en-IN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AE18A4-2092-233F-6690-46AA79666827}"/>
              </a:ext>
            </a:extLst>
          </p:cNvPr>
          <p:cNvSpPr/>
          <p:nvPr/>
        </p:nvSpPr>
        <p:spPr>
          <a:xfrm>
            <a:off x="4771973" y="3330674"/>
            <a:ext cx="2182761" cy="11632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Accessing menu</a:t>
            </a:r>
            <a:endParaRPr lang="en-IN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47F1F-5A91-B3A2-E849-799129241375}"/>
              </a:ext>
            </a:extLst>
          </p:cNvPr>
          <p:cNvSpPr/>
          <p:nvPr/>
        </p:nvSpPr>
        <p:spPr>
          <a:xfrm>
            <a:off x="8615951" y="3330675"/>
            <a:ext cx="2182761" cy="11632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Placing order</a:t>
            </a:r>
            <a:endParaRPr lang="en-IN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3965D2-00E2-8C3C-D455-747BE7F25E62}"/>
              </a:ext>
            </a:extLst>
          </p:cNvPr>
          <p:cNvSpPr/>
          <p:nvPr/>
        </p:nvSpPr>
        <p:spPr>
          <a:xfrm>
            <a:off x="2281083" y="5329582"/>
            <a:ext cx="2182761" cy="116327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Manager receive order</a:t>
            </a:r>
            <a:endParaRPr lang="en-IN" sz="20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67B6EF-FA1E-5C4F-1950-C23F46F717E7}"/>
              </a:ext>
            </a:extLst>
          </p:cNvPr>
          <p:cNvSpPr/>
          <p:nvPr/>
        </p:nvSpPr>
        <p:spPr>
          <a:xfrm>
            <a:off x="6218903" y="5329582"/>
            <a:ext cx="2182761" cy="116327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Order confirmation</a:t>
            </a:r>
            <a:endParaRPr lang="en-IN" sz="20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8B1828A-E930-625E-5C8B-1EA8DC16F90F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3372464" y="3912314"/>
            <a:ext cx="1399509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F277AF-96A5-928B-A7E7-705F479D554D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954734" y="3912314"/>
            <a:ext cx="166121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4A56287-35A2-3018-5B66-70D293C1BB38}"/>
              </a:ext>
            </a:extLst>
          </p:cNvPr>
          <p:cNvCxnSpPr>
            <a:stCxn id="6" idx="2"/>
            <a:endCxn id="8" idx="3"/>
          </p:cNvCxnSpPr>
          <p:nvPr/>
        </p:nvCxnSpPr>
        <p:spPr>
          <a:xfrm rot="5400000">
            <a:off x="8345865" y="4549753"/>
            <a:ext cx="1417267" cy="13056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891DB3-0573-50D3-950D-759EA3957183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>
            <a:off x="4463844" y="5911221"/>
            <a:ext cx="175505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566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30568-BC47-B8A7-CEBE-0126D5BC9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633" y="624110"/>
            <a:ext cx="9665980" cy="1280890"/>
          </a:xfrm>
        </p:spPr>
        <p:txBody>
          <a:bodyPr>
            <a:noAutofit/>
          </a:bodyPr>
          <a:lstStyle/>
          <a:p>
            <a:r>
              <a:rPr lang="en-US" sz="4000" dirty="0"/>
              <a:t>Software And Hardware Requirement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6592-8F4F-0AFC-C477-2442B781F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6619" y="2133600"/>
            <a:ext cx="9547993" cy="3777622"/>
          </a:xfrm>
        </p:spPr>
        <p:txBody>
          <a:bodyPr>
            <a:normAutofit/>
          </a:bodyPr>
          <a:lstStyle/>
          <a:p>
            <a:r>
              <a:rPr lang="en-US" sz="2000" b="1" dirty="0"/>
              <a:t>Software Requirement:</a:t>
            </a:r>
          </a:p>
          <a:p>
            <a:pPr lvl="1"/>
            <a:r>
              <a:rPr lang="en-US" sz="2000" dirty="0"/>
              <a:t>HTML,CSS,JavaScript,Node.js,MySQL.</a:t>
            </a:r>
          </a:p>
          <a:p>
            <a:r>
              <a:rPr lang="en-US" sz="2000" b="1" dirty="0"/>
              <a:t>Hardware Requirement:</a:t>
            </a:r>
          </a:p>
          <a:p>
            <a:pPr lvl="1"/>
            <a:r>
              <a:rPr lang="en-US" sz="2000" dirty="0"/>
              <a:t>Smartphone with QR scanning.</a:t>
            </a:r>
          </a:p>
          <a:p>
            <a:pPr lvl="1"/>
            <a:r>
              <a:rPr lang="en-US" sz="2000" dirty="0"/>
              <a:t>Desktop for restaurant manager</a:t>
            </a:r>
          </a:p>
          <a:p>
            <a:pPr lvl="1"/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35170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2FAA-2BED-A3CB-9E8E-156608E44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References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0A00D-846A-ACEA-61A5-DAA4616B6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Books:</a:t>
            </a:r>
          </a:p>
          <a:p>
            <a:pPr lvl="1"/>
            <a:r>
              <a:rPr lang="en-US" sz="2000" dirty="0"/>
              <a:t>"JavaScript and JQuery: Interactive Front-End Web Development" by Jon Duckett.</a:t>
            </a:r>
          </a:p>
          <a:p>
            <a:pPr lvl="1"/>
            <a:r>
              <a:rPr lang="it-IT" sz="2000" dirty="0"/>
              <a:t>"Node.js Design Patterns" by Mario Casciaro.</a:t>
            </a:r>
            <a:endParaRPr lang="en-US" sz="2000" dirty="0"/>
          </a:p>
          <a:p>
            <a:r>
              <a:rPr lang="en-US" sz="2000" b="1" dirty="0"/>
              <a:t>Research papers/Web references:</a:t>
            </a:r>
          </a:p>
          <a:p>
            <a:pPr lvl="1"/>
            <a:r>
              <a:rPr lang="en-US" sz="2000" dirty="0"/>
              <a:t>Papers on QR code based system and contactless technology.</a:t>
            </a:r>
          </a:p>
        </p:txBody>
      </p:sp>
    </p:spTree>
    <p:extLst>
      <p:ext uri="{BB962C8B-B14F-4D97-AF65-F5344CB8AC3E}">
        <p14:creationId xmlns:p14="http://schemas.microsoft.com/office/powerpoint/2010/main" val="426715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43D11-8100-CFFE-BCD7-1E52154D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Conclusion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9C55A-7E6C-D0DA-50A5-3546845FC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Summary of the project’s objectives and how it enhances the restaurant dining experience</a:t>
            </a:r>
          </a:p>
          <a:p>
            <a:r>
              <a:rPr lang="en-US" sz="2000" dirty="0"/>
              <a:t>Emphasis on the system’s efficiency, contactless nature, and improvement over traditional methods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53584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45B3-B330-508F-1CD1-B9DEB3476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3908" y="2687893"/>
            <a:ext cx="4837471" cy="1482213"/>
          </a:xfr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  <a:reflection blurRad="6350" stA="50000" endA="300" endPos="55000" dir="5400000" sy="-100000" algn="bl" rotWithShape="0"/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>
            <a:noAutofit/>
          </a:bodyPr>
          <a:lstStyle/>
          <a:p>
            <a:r>
              <a:rPr lang="en-US" sz="6000" b="1" u="sng" dirty="0">
                <a:latin typeface="Raleway" pitchFamily="2" charset="0"/>
              </a:rPr>
              <a:t>Thank You!</a:t>
            </a:r>
            <a:endParaRPr lang="en-IN" sz="6000" b="1" u="sng" dirty="0">
              <a:latin typeface="Raleway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82735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89</TotalTime>
  <Words>503</Words>
  <Application>Microsoft Office PowerPoint</Application>
  <PresentationFormat>Widescreen</PresentationFormat>
  <Paragraphs>102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Century Gothic</vt:lpstr>
      <vt:lpstr>Raleway</vt:lpstr>
      <vt:lpstr>Times New Roman</vt:lpstr>
      <vt:lpstr>Wingdings 3</vt:lpstr>
      <vt:lpstr>Wisp</vt:lpstr>
      <vt:lpstr>PowerPoint Presentation</vt:lpstr>
      <vt:lpstr>Advanced QR-Code Ordering System</vt:lpstr>
      <vt:lpstr>PowerPoint Presentation</vt:lpstr>
      <vt:lpstr>Introduction</vt:lpstr>
      <vt:lpstr>Problem Statement</vt:lpstr>
      <vt:lpstr>Objective</vt:lpstr>
      <vt:lpstr>Motivation</vt:lpstr>
      <vt:lpstr>System Design(Architecture)</vt:lpstr>
      <vt:lpstr>Modules of the system</vt:lpstr>
      <vt:lpstr>Flowchart/Block Diagram</vt:lpstr>
      <vt:lpstr>Software And Hardware Requirement</vt:lpstr>
      <vt:lpstr>References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Vighnesh Patil</dc:creator>
  <cp:lastModifiedBy>Vighnesh Patil</cp:lastModifiedBy>
  <cp:revision>3</cp:revision>
  <dcterms:created xsi:type="dcterms:W3CDTF">2025-02-12T15:57:10Z</dcterms:created>
  <dcterms:modified xsi:type="dcterms:W3CDTF">2025-02-12T17:53:53Z</dcterms:modified>
</cp:coreProperties>
</file>